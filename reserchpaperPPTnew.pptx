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4"/>
  </p:notesMasterIdLst>
  <p:handoutMasterIdLst>
    <p:handoutMasterId r:id="rId15"/>
  </p:handoutMasterIdLst>
  <p:sldIdLst>
    <p:sldId id="256" r:id="rId5"/>
    <p:sldId id="257" r:id="rId6"/>
    <p:sldId id="270" r:id="rId7"/>
    <p:sldId id="271" r:id="rId8"/>
    <p:sldId id="272" r:id="rId9"/>
    <p:sldId id="273" r:id="rId10"/>
    <p:sldId id="274" r:id="rId11"/>
    <p:sldId id="275" r:id="rId12"/>
    <p:sldId id="268" r:id="rId13"/>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4/28/2026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4/28/2026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IN" sz="3600" b="1" dirty="0"/>
              <a:t>Smart Expense Tracker</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by Pranjal(2210992064)</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Vishal(2210992538)</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Akshit(2210991236)</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Vaibhav(2210992490)</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Dr. Rajat </a:t>
            </a:r>
            <a:r>
              <a:rPr lang="en-US" sz="2000" spc="-1" dirty="0" err="1">
                <a:latin typeface="Times New Roman" panose="02020603050405020304" pitchFamily="18" charset="0"/>
                <a:ea typeface="MS PGothic"/>
                <a:cs typeface="Times New Roman" panose="02020603050405020304" pitchFamily="18" charset="0"/>
              </a:rPr>
              <a:t>Takkar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447801" y="240456"/>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926008" y="2100943"/>
            <a:ext cx="7521306" cy="4097741"/>
          </a:xfrm>
          <a:prstGeom prst="rect">
            <a:avLst/>
          </a:prstGeom>
          <a:noFill/>
          <a:ln w="9360">
            <a:noFill/>
          </a:ln>
        </p:spPr>
        <p:txBody>
          <a:bodyPr>
            <a:noAutofit/>
          </a:bodyPr>
          <a:lstStyle/>
          <a:p>
            <a:pPr>
              <a:lnSpc>
                <a:spcPct val="150000"/>
              </a:lnSpc>
              <a:spcBef>
                <a:spcPts val="400"/>
              </a:spcBef>
            </a:pPr>
            <a:endParaRPr lang="en-US" sz="3600" b="0" strike="noStrike"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FE43D79A-D18A-8E25-D685-33FC6918520A}"/>
              </a:ext>
            </a:extLst>
          </p:cNvPr>
          <p:cNvSpPr txBox="1"/>
          <p:nvPr/>
        </p:nvSpPr>
        <p:spPr>
          <a:xfrm>
            <a:off x="261258" y="1595268"/>
            <a:ext cx="8621484" cy="4401205"/>
          </a:xfrm>
          <a:prstGeom prst="rect">
            <a:avLst/>
          </a:prstGeom>
          <a:noFill/>
        </p:spPr>
        <p:txBody>
          <a:bodyPr wrap="square">
            <a:spAutoFit/>
          </a:bodyPr>
          <a:lstStyle/>
          <a:p>
            <a:pPr algn="just"/>
            <a:r>
              <a:rPr lang="en-US" sz="2000" dirty="0"/>
              <a:t>In the modern era, where digital transactions such as online payments, UPI transfers, and card usage have become extremely common, managing personal finances has become more complex than ever before. Many individuals struggle to keep track of their daily expenses due to the large volume of transactions and lack of structured recording methods. Traditional approaches, such as maintaining notebooks or spreadsheets, are often time-consuming, error-prone, and inefficient. The Smart Expense Tracker is designed as a comprehensive digital solution that automates the process of expense tracking and financial monitoring. It enables users to record their income and expenses in real time, categorize them systematically, and analyze their financial behavior through interactive dashboards and visualizations. This system not only simplifies financial management but also encourages users to develop disciplined spending habits and achieve long-term financial stability.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F0A97-A3CC-FA1E-C706-9121AE3029E3}"/>
              </a:ext>
            </a:extLst>
          </p:cNvPr>
          <p:cNvSpPr>
            <a:spLocks noGrp="1"/>
          </p:cNvSpPr>
          <p:nvPr>
            <p:ph type="title"/>
          </p:nvPr>
        </p:nvSpPr>
        <p:spPr>
          <a:xfrm>
            <a:off x="1654628" y="0"/>
            <a:ext cx="3831411" cy="914040"/>
          </a:xfrm>
        </p:spPr>
        <p:txBody>
          <a:bodyPr/>
          <a:lstStyle/>
          <a:p>
            <a:r>
              <a:rPr lang="en-IN" sz="3200" dirty="0"/>
              <a:t>Problem Statement</a:t>
            </a:r>
          </a:p>
        </p:txBody>
      </p:sp>
      <p:sp>
        <p:nvSpPr>
          <p:cNvPr id="3" name="Subtitle 2">
            <a:extLst>
              <a:ext uri="{FF2B5EF4-FFF2-40B4-BE49-F238E27FC236}">
                <a16:creationId xmlns:a16="http://schemas.microsoft.com/office/drawing/2014/main" id="{163B72B9-1E31-EAA3-E597-1AFDDB024F15}"/>
              </a:ext>
            </a:extLst>
          </p:cNvPr>
          <p:cNvSpPr>
            <a:spLocks noGrp="1"/>
          </p:cNvSpPr>
          <p:nvPr>
            <p:ph type="subTitle"/>
          </p:nvPr>
        </p:nvSpPr>
        <p:spPr>
          <a:xfrm>
            <a:off x="348343" y="1502227"/>
            <a:ext cx="8447314" cy="4136571"/>
          </a:xfrm>
        </p:spPr>
        <p:txBody>
          <a:bodyPr/>
          <a:lstStyle/>
          <a:p>
            <a:pPr algn="just"/>
            <a:r>
              <a:rPr lang="en-US" sz="2000" dirty="0"/>
              <a:t>Despite the availability of various financial tools, many users still face significant challenges in managing their expenses effectively. One of the major issues is the lack of awareness regarding spending patterns, which often leads to overspending and financial instability. Manual methods of tracking expenses are not only tedious but also prone to human errors, resulting in inaccurate data and poor analysis. Additionally, most individuals do not have access to a centralized system that provides a complete overview of their financial activities, making it difficult to identify unnecessary expenditures or plan budgets effectively. The absence of real-time insights further complicates the decision-making process, preventing users from taking timely corrective actions. Therefore, there is a need for a smart, automated, and user-friendly system that can address these challenges and provide a reliable solution for personal financial management.</a:t>
            </a:r>
          </a:p>
          <a:p>
            <a:endParaRPr lang="en-IN" dirty="0"/>
          </a:p>
        </p:txBody>
      </p:sp>
    </p:spTree>
    <p:extLst>
      <p:ext uri="{BB962C8B-B14F-4D97-AF65-F5344CB8AC3E}">
        <p14:creationId xmlns:p14="http://schemas.microsoft.com/office/powerpoint/2010/main" val="835514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805A5-9705-67DA-D3FA-3E6E64747C9A}"/>
              </a:ext>
            </a:extLst>
          </p:cNvPr>
          <p:cNvSpPr>
            <a:spLocks noGrp="1"/>
          </p:cNvSpPr>
          <p:nvPr>
            <p:ph type="title"/>
          </p:nvPr>
        </p:nvSpPr>
        <p:spPr>
          <a:xfrm>
            <a:off x="1937658" y="0"/>
            <a:ext cx="5486040" cy="914040"/>
          </a:xfrm>
        </p:spPr>
        <p:txBody>
          <a:bodyPr/>
          <a:lstStyle/>
          <a:p>
            <a:r>
              <a:rPr lang="en-IN" dirty="0"/>
              <a:t>Objectives</a:t>
            </a:r>
          </a:p>
        </p:txBody>
      </p:sp>
      <p:sp>
        <p:nvSpPr>
          <p:cNvPr id="3" name="Subtitle 2">
            <a:extLst>
              <a:ext uri="{FF2B5EF4-FFF2-40B4-BE49-F238E27FC236}">
                <a16:creationId xmlns:a16="http://schemas.microsoft.com/office/drawing/2014/main" id="{CA7A7918-B9F6-136E-1D81-87C07EAD062B}"/>
              </a:ext>
            </a:extLst>
          </p:cNvPr>
          <p:cNvSpPr>
            <a:spLocks noGrp="1"/>
          </p:cNvSpPr>
          <p:nvPr>
            <p:ph type="subTitle"/>
          </p:nvPr>
        </p:nvSpPr>
        <p:spPr>
          <a:xfrm>
            <a:off x="1153885" y="3069772"/>
            <a:ext cx="7173685" cy="914040"/>
          </a:xfrm>
        </p:spPr>
        <p:txBody>
          <a:bodyPr/>
          <a:lstStyle/>
          <a:p>
            <a:pPr algn="just"/>
            <a:r>
              <a:rPr lang="en-US" sz="2000" dirty="0"/>
              <a:t>The primary objective of the Smart Expense Tracker is to develop a robust and efficient system that simplifies the process of managing personal finances. The system aims to enable users to record their daily income and expenses in an organized manner while categorizing transactions into meaningful groups such as food, transportation, utilities, and entertainment. Another important objective is to provide users with detailed insights into their spending behavior through graphical representations such as pie charts and bar graphs. The system also focuses on helping users set budget limits and receive timely alerts when they exceed their predefined thresholds. Furthermore, it aims to enhance decision-making capabilities by generating monthly and yearly reports, ensuring data accuracy, and maintaining high standards of security and privacy.</a:t>
            </a:r>
            <a:endParaRPr lang="en-IN" sz="2000" dirty="0"/>
          </a:p>
        </p:txBody>
      </p:sp>
    </p:spTree>
    <p:extLst>
      <p:ext uri="{BB962C8B-B14F-4D97-AF65-F5344CB8AC3E}">
        <p14:creationId xmlns:p14="http://schemas.microsoft.com/office/powerpoint/2010/main" val="3384682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2A620-1BA0-5D9B-199F-E91D63FC8B30}"/>
              </a:ext>
            </a:extLst>
          </p:cNvPr>
          <p:cNvSpPr>
            <a:spLocks noGrp="1"/>
          </p:cNvSpPr>
          <p:nvPr>
            <p:ph type="title"/>
          </p:nvPr>
        </p:nvSpPr>
        <p:spPr>
          <a:xfrm>
            <a:off x="2013857" y="0"/>
            <a:ext cx="5486040" cy="914040"/>
          </a:xfrm>
        </p:spPr>
        <p:txBody>
          <a:bodyPr/>
          <a:lstStyle/>
          <a:p>
            <a:r>
              <a:rPr lang="en-IN" dirty="0"/>
              <a:t>Key Features</a:t>
            </a:r>
          </a:p>
        </p:txBody>
      </p:sp>
      <p:sp>
        <p:nvSpPr>
          <p:cNvPr id="3" name="Subtitle 2">
            <a:extLst>
              <a:ext uri="{FF2B5EF4-FFF2-40B4-BE49-F238E27FC236}">
                <a16:creationId xmlns:a16="http://schemas.microsoft.com/office/drawing/2014/main" id="{2A49ABC8-0C09-56F7-2688-38E50C409737}"/>
              </a:ext>
            </a:extLst>
          </p:cNvPr>
          <p:cNvSpPr>
            <a:spLocks noGrp="1"/>
          </p:cNvSpPr>
          <p:nvPr>
            <p:ph type="subTitle"/>
          </p:nvPr>
        </p:nvSpPr>
        <p:spPr>
          <a:xfrm>
            <a:off x="762000" y="2971980"/>
            <a:ext cx="7620000" cy="914040"/>
          </a:xfrm>
        </p:spPr>
        <p:txBody>
          <a:bodyPr/>
          <a:lstStyle/>
          <a:p>
            <a:pPr algn="just"/>
            <a:r>
              <a:rPr lang="en-US" sz="2000" dirty="0"/>
              <a:t>The Smart Expense Tracker includes a wide range of features that make it a powerful and user-friendly application. It provides a well-designed dashboard that gives users an overview of their financial status, including total balance, income, and expenses. Users can easily add, edit, or delete transactions, ensuring flexibility and control over their data. The system automatically categorizes expenses, allowing users to understand how their money is being spent. It also offers budget management features, where users can set spending limits and receive alerts when they approach or exceed these limits. Additionally, the application includes data visualization tools that present financial information in the form of charts and graphs, making it easier to analyze trends and patterns. Other features include secure authentication, cloud-based data storage, and options to export reports for further analysis.</a:t>
            </a:r>
            <a:endParaRPr lang="en-IN" sz="2000" dirty="0"/>
          </a:p>
        </p:txBody>
      </p:sp>
    </p:spTree>
    <p:extLst>
      <p:ext uri="{BB962C8B-B14F-4D97-AF65-F5344CB8AC3E}">
        <p14:creationId xmlns:p14="http://schemas.microsoft.com/office/powerpoint/2010/main" val="1755569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AFCFA-1C3A-AE21-0A00-06EF0E5BFF79}"/>
              </a:ext>
            </a:extLst>
          </p:cNvPr>
          <p:cNvSpPr>
            <a:spLocks noGrp="1"/>
          </p:cNvSpPr>
          <p:nvPr>
            <p:ph type="title"/>
          </p:nvPr>
        </p:nvSpPr>
        <p:spPr>
          <a:xfrm>
            <a:off x="2035628" y="0"/>
            <a:ext cx="5486040" cy="914040"/>
          </a:xfrm>
        </p:spPr>
        <p:txBody>
          <a:bodyPr/>
          <a:lstStyle/>
          <a:p>
            <a:r>
              <a:rPr lang="en-IN" dirty="0"/>
              <a:t>Methodology</a:t>
            </a:r>
          </a:p>
        </p:txBody>
      </p:sp>
      <p:sp>
        <p:nvSpPr>
          <p:cNvPr id="3" name="Subtitle 2">
            <a:extLst>
              <a:ext uri="{FF2B5EF4-FFF2-40B4-BE49-F238E27FC236}">
                <a16:creationId xmlns:a16="http://schemas.microsoft.com/office/drawing/2014/main" id="{229BCAE8-8F6C-61A5-D915-650EE3495226}"/>
              </a:ext>
            </a:extLst>
          </p:cNvPr>
          <p:cNvSpPr>
            <a:spLocks noGrp="1"/>
          </p:cNvSpPr>
          <p:nvPr>
            <p:ph type="subTitle"/>
          </p:nvPr>
        </p:nvSpPr>
        <p:spPr>
          <a:xfrm>
            <a:off x="1415142" y="3156857"/>
            <a:ext cx="7162801" cy="914040"/>
          </a:xfrm>
        </p:spPr>
        <p:txBody>
          <a:bodyPr/>
          <a:lstStyle/>
          <a:p>
            <a:pPr algn="just"/>
            <a:r>
              <a:rPr lang="en-US" sz="2000" dirty="0"/>
              <a:t>The development of the Smart Expense Tracker follows a systematic and structured methodology to ensure the successful implementation of the project. The process begins with requirement analysis, where user needs and system requirements are identified. This is followed by system design, which involves creating the architecture and defining the workflow of the application. Data collection is carried out through user inputs, which are then processed and categorized based on predefined criteria. The system performs data analysis to identify patterns and trends in user spending behavior. These insights are presented through visualizations such as graphs and charts, making it easier for users to interpret the data. Finally, the system undergoes rigorous testing and validation to ensure accuracy, reliability, and performance.</a:t>
            </a:r>
            <a:endParaRPr lang="en-IN" sz="2000" dirty="0"/>
          </a:p>
        </p:txBody>
      </p:sp>
    </p:spTree>
    <p:extLst>
      <p:ext uri="{BB962C8B-B14F-4D97-AF65-F5344CB8AC3E}">
        <p14:creationId xmlns:p14="http://schemas.microsoft.com/office/powerpoint/2010/main" val="1400827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1A81-FA13-53A6-613A-26540978FC39}"/>
              </a:ext>
            </a:extLst>
          </p:cNvPr>
          <p:cNvSpPr>
            <a:spLocks noGrp="1"/>
          </p:cNvSpPr>
          <p:nvPr>
            <p:ph type="title"/>
          </p:nvPr>
        </p:nvSpPr>
        <p:spPr>
          <a:xfrm>
            <a:off x="2155372" y="0"/>
            <a:ext cx="5486040" cy="914040"/>
          </a:xfrm>
        </p:spPr>
        <p:txBody>
          <a:bodyPr/>
          <a:lstStyle/>
          <a:p>
            <a:r>
              <a:rPr lang="en-IN" dirty="0"/>
              <a:t>System Flow</a:t>
            </a:r>
          </a:p>
        </p:txBody>
      </p:sp>
      <p:sp>
        <p:nvSpPr>
          <p:cNvPr id="3" name="Subtitle 2">
            <a:extLst>
              <a:ext uri="{FF2B5EF4-FFF2-40B4-BE49-F238E27FC236}">
                <a16:creationId xmlns:a16="http://schemas.microsoft.com/office/drawing/2014/main" id="{2E639AFD-1FFB-E943-A95F-CE43DC8BE15D}"/>
              </a:ext>
            </a:extLst>
          </p:cNvPr>
          <p:cNvSpPr>
            <a:spLocks noGrp="1"/>
          </p:cNvSpPr>
          <p:nvPr>
            <p:ph type="subTitle"/>
          </p:nvPr>
        </p:nvSpPr>
        <p:spPr>
          <a:xfrm>
            <a:off x="696686" y="1197068"/>
            <a:ext cx="8229240" cy="4667760"/>
          </a:xfrm>
        </p:spPr>
        <p:txBody>
          <a:bodyPr/>
          <a:lstStyle/>
          <a:p>
            <a:pPr algn="just"/>
            <a:r>
              <a:rPr lang="en-US" sz="2000" dirty="0"/>
              <a:t>The working of the Smart Expense Tracker follows a logical sequence of steps that ensure smooth operation and efficient data handling. The process begins with user registration and login, where users create an account and securely access the system. Once logged in, users can input their income and expense details, which are stored in the database. The system then processes this data by categorizing transactions and calculating totals. Based on the processed data, the system generates reports and insights, which are displayed on the dashboard in the form of charts and graphs. Users can also set budget limits and monitor their spending patterns over time, enabling them to make informed financial decisions.</a:t>
            </a:r>
            <a:endParaRPr lang="en-IN" sz="2000" dirty="0"/>
          </a:p>
        </p:txBody>
      </p:sp>
    </p:spTree>
    <p:extLst>
      <p:ext uri="{BB962C8B-B14F-4D97-AF65-F5344CB8AC3E}">
        <p14:creationId xmlns:p14="http://schemas.microsoft.com/office/powerpoint/2010/main" val="635256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548C3-D46A-1BD8-A26D-D13B1315E435}"/>
              </a:ext>
            </a:extLst>
          </p:cNvPr>
          <p:cNvSpPr>
            <a:spLocks noGrp="1"/>
          </p:cNvSpPr>
          <p:nvPr>
            <p:ph type="title"/>
          </p:nvPr>
        </p:nvSpPr>
        <p:spPr>
          <a:xfrm>
            <a:off x="2503714" y="0"/>
            <a:ext cx="5486040" cy="914040"/>
          </a:xfrm>
        </p:spPr>
        <p:txBody>
          <a:bodyPr/>
          <a:lstStyle/>
          <a:p>
            <a:r>
              <a:rPr lang="en-IN" dirty="0"/>
              <a:t>Conclusion</a:t>
            </a:r>
          </a:p>
        </p:txBody>
      </p:sp>
      <p:sp>
        <p:nvSpPr>
          <p:cNvPr id="3" name="Subtitle 2">
            <a:extLst>
              <a:ext uri="{FF2B5EF4-FFF2-40B4-BE49-F238E27FC236}">
                <a16:creationId xmlns:a16="http://schemas.microsoft.com/office/drawing/2014/main" id="{285F49A7-C236-0EE0-D112-8B096662287A}"/>
              </a:ext>
            </a:extLst>
          </p:cNvPr>
          <p:cNvSpPr>
            <a:spLocks noGrp="1"/>
          </p:cNvSpPr>
          <p:nvPr>
            <p:ph type="subTitle"/>
          </p:nvPr>
        </p:nvSpPr>
        <p:spPr>
          <a:xfrm>
            <a:off x="457380" y="1440360"/>
            <a:ext cx="8229240" cy="3977280"/>
          </a:xfrm>
        </p:spPr>
        <p:txBody>
          <a:bodyPr/>
          <a:lstStyle/>
          <a:p>
            <a:pPr algn="just"/>
            <a:r>
              <a:rPr lang="en-US" sz="2000" dirty="0"/>
              <a:t>In conclusion, the Smart Expense Tracker is a powerful and effective solution for managing personal finances in a digital world. It simplifies the process of tracking expenses, provides valuable insights, and encourages users to adopt better financial habits. By combining modern technologies with user-centric design, the system offers a reliable and efficient platform for financial management. With further enhancements and continuous development, it has the potential to become an indispensable tool for individuals seeking to achieve financial stability and success.</a:t>
            </a:r>
          </a:p>
          <a:p>
            <a:endParaRPr lang="en-IN" dirty="0"/>
          </a:p>
        </p:txBody>
      </p:sp>
    </p:spTree>
    <p:extLst>
      <p:ext uri="{BB962C8B-B14F-4D97-AF65-F5344CB8AC3E}">
        <p14:creationId xmlns:p14="http://schemas.microsoft.com/office/powerpoint/2010/main" val="3358773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www.w3.org/XML/1998/namespace"/>
    <ds:schemaRef ds:uri="http://schemas.openxmlformats.org/package/2006/metadata/core-properties"/>
    <ds:schemaRef ds:uri="http://schemas.microsoft.com/office/2006/metadata/properties"/>
    <ds:schemaRef ds:uri="http://purl.org/dc/elements/1.1/"/>
    <ds:schemaRef ds:uri="http://purl.org/dc/terms/"/>
    <ds:schemaRef ds:uri="http://schemas.microsoft.com/office/2006/documentManagement/types"/>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34706</TotalTime>
  <Words>997</Words>
  <Application>Microsoft Office PowerPoint</Application>
  <PresentationFormat>On-screen Show (4:3)</PresentationFormat>
  <Paragraphs>32</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PowerPoint Presentation</vt:lpstr>
      <vt:lpstr>Problem Statement</vt:lpstr>
      <vt:lpstr>Objectives</vt:lpstr>
      <vt:lpstr>Key Features</vt:lpstr>
      <vt:lpstr>Methodology</vt:lpstr>
      <vt:lpstr>System Flow</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Pranjal Sharma</cp:lastModifiedBy>
  <cp:revision>2297</cp:revision>
  <dcterms:created xsi:type="dcterms:W3CDTF">2010-04-09T07:36:15Z</dcterms:created>
  <dcterms:modified xsi:type="dcterms:W3CDTF">2026-04-27T19:53:36Z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